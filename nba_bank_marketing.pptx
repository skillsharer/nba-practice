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h308451d28571216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h308451d28571216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h308451d285712164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h308451d285712164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h308451d285712164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h308451d285712164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Next Best Action - Bank Marketing</a:t>
            </a:r>
            <a:endParaRPr/>
          </a:p>
        </p:txBody>
      </p:sp>
      <p:sp>
        <p:nvSpPr>
          <p:cNvPr id="55" name="Google Shape;55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hu"/>
              <a:t>Goal: </a:t>
            </a:r>
            <a:r>
              <a:rPr lang="hu"/>
              <a:t>estimate which customers are likely to subscribe before the current campaign.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hu"/>
              <a:t>Prediction:</a:t>
            </a:r>
            <a:r>
              <a:rPr lang="hu"/>
              <a:t> customer propensity to subscribe to a term deposit.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hu"/>
              <a:t>NBA decision:</a:t>
            </a:r>
            <a:r>
              <a:rPr lang="hu"/>
              <a:t> use that propensity to support TARGET vs. DO NOT TARGET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hu"/>
              <a:t>Dataset:</a:t>
            </a:r>
            <a:r>
              <a:rPr lang="hu"/>
              <a:t> UCI Bank Marketing dataset; Historical bank-customer data with customer context and previous interactions. Relevant to NBA because historical information can support a future marketing decision.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Design and Challenges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39348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hu" sz="1200"/>
              <a:t>Main repository design:</a:t>
            </a:r>
            <a:endParaRPr b="1" sz="12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hu" sz="1100"/>
              <a:t>1. EDA and define prediction time. </a:t>
            </a:r>
            <a:endParaRPr sz="11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hu" sz="1100"/>
              <a:t>2. Exclude current-campaign features unavailable before the campaign. </a:t>
            </a:r>
            <a:endParaRPr sz="11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hu" sz="1100"/>
              <a:t>3. Preprocess numerical and categorical features in a scikit-learn Pipeline. </a:t>
            </a:r>
            <a:endParaRPr sz="11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hu" sz="1100"/>
              <a:t>4. Compare Logistic Regression, Decision Tree and Random Forest. </a:t>
            </a:r>
            <a:endParaRPr sz="11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hu" sz="1100"/>
              <a:t>5. Select by 5-fold stratified CV Average Precision.</a:t>
            </a:r>
            <a:endParaRPr sz="11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hu" sz="1100"/>
              <a:t>6. Select threshold from out-of-fold predictions; evaluate once on the held-out test set.</a:t>
            </a:r>
            <a:endParaRPr sz="1200"/>
          </a:p>
        </p:txBody>
      </p:sp>
      <p:sp>
        <p:nvSpPr>
          <p:cNvPr id="62" name="Google Shape;62;p14"/>
          <p:cNvSpPr txBox="1"/>
          <p:nvPr>
            <p:ph idx="1" type="body"/>
          </p:nvPr>
        </p:nvSpPr>
        <p:spPr>
          <a:xfrm>
            <a:off x="4572000" y="1111700"/>
            <a:ext cx="39348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hu" sz="1200"/>
              <a:t>Key challenges and their resolutions:</a:t>
            </a:r>
            <a:endParaRPr b="1" sz="12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hu" sz="1100"/>
              <a:t>1. Class imbalance - AP for model selection, Precision/Recall/F1 score for proper model evaluation</a:t>
            </a:r>
            <a:endParaRPr sz="11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hu" sz="1100"/>
              <a:t>2. Leaky features - Removed these features in the training pipeline</a:t>
            </a:r>
            <a:endParaRPr sz="11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hu" sz="1100"/>
              <a:t>3. Special, skewed features - Introduced standard and robust scaling</a:t>
            </a:r>
            <a:endParaRPr sz="11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hu" sz="1100"/>
              <a:t>4. No defined FN/FP business costs - Used the F1 score to have balance between precision and recall</a:t>
            </a:r>
            <a:endParaRPr sz="11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hu" sz="1100"/>
              <a:t>5. Reproducibility - Next to .ipynb I introduced a modular training pipeline with fixed seed.</a:t>
            </a:r>
            <a:endParaRPr sz="11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Results</a:t>
            </a:r>
            <a:endParaRPr/>
          </a:p>
        </p:txBody>
      </p:sp>
      <p:sp>
        <p:nvSpPr>
          <p:cNvPr id="68" name="Google Shape;68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b="1" lang="hu"/>
              <a:t>OOF threshold selection: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hu"/>
              <a:t>Selected model: random_forest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hu"/>
              <a:t>Threshold: 0.18145248856467774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hu"/>
              <a:t>Precision: 0.40385056154022464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hu"/>
              <a:t>Recall: 0.4164500118175372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F1: 0.41005352571561554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b="1" lang="hu"/>
              <a:t>Final test set evaluation: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hu"/>
              <a:t>Threshold: 0.18145248856467774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hu"/>
              <a:t>Average Precision: 0.3905019158575219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hu"/>
              <a:t>Precision: 0.40951492537313433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hu"/>
              <a:t>Recall: 0.41493383742911155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hu"/>
              <a:t>F1: 0.41220657276995304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69" name="Google Shape;69;p15" title="pr-cv-outpu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7700" y="1319750"/>
            <a:ext cx="4314590" cy="3081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